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843" r:id="rId2"/>
    <p:sldId id="4844" r:id="rId3"/>
    <p:sldId id="262" r:id="rId4"/>
    <p:sldId id="263" r:id="rId5"/>
    <p:sldId id="264" r:id="rId6"/>
    <p:sldId id="265" r:id="rId7"/>
    <p:sldId id="256" r:id="rId8"/>
    <p:sldId id="259" r:id="rId9"/>
    <p:sldId id="266" r:id="rId10"/>
    <p:sldId id="267" r:id="rId11"/>
    <p:sldId id="4839" r:id="rId12"/>
  </p:sldIdLst>
  <p:sldSz cx="12192000" cy="6858000"/>
  <p:notesSz cx="12192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2" autoAdjust="0"/>
    <p:restoredTop sz="94688" autoAdjust="0"/>
  </p:normalViewPr>
  <p:slideViewPr>
    <p:cSldViewPr>
      <p:cViewPr varScale="1">
        <p:scale>
          <a:sx n="78" d="100"/>
          <a:sy n="78" d="100"/>
        </p:scale>
        <p:origin x="883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otes Placeholder">
            <a:extLst>
              <a:ext uri="{FF2B5EF4-FFF2-40B4-BE49-F238E27FC236}">
                <a16:creationId xmlns:a16="http://schemas.microsoft.com/office/drawing/2014/main" id="{5130A121-1F35-AD91-8991-CE27438F1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Notes Placeholder">
            <a:extLst>
              <a:ext uri="{FF2B5EF4-FFF2-40B4-BE49-F238E27FC236}">
                <a16:creationId xmlns:a16="http://schemas.microsoft.com/office/drawing/2014/main" id="{259BF431-3AC5-7D9E-7C25-2B45EC154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38731999-7DBC-3620-B912-B5E7552C3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E93-C6B1-CDC7-8EA1-C9DE9CF7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2C72D61B-7534-A49E-B2C4-026388162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300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BD0A-E0E7-C7F0-C11A-E5D3B29D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716FB135-415C-0271-F457-A36B659E3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6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7DA0-D62E-5C6D-6E25-ED5E3EE6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D6539894-B3D1-DB88-EE9A-61B18EC30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6D38-9D3B-8FE6-7F65-7F83345D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F8056DB9-34F7-C228-E822-F401A5895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990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BA8A-08CA-4162-AD55-B2D91959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otes Placeholder">
            <a:extLst>
              <a:ext uri="{FF2B5EF4-FFF2-40B4-BE49-F238E27FC236}">
                <a16:creationId xmlns:a16="http://schemas.microsoft.com/office/drawing/2014/main" id="{DF802435-D034-66C6-F3CA-DD56D78DA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60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49A21F61-E0D6-E40B-1621-EFB603E35D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5237916-FD11-ABA5-1A5B-AD191C27FBB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40963-CA15-48F7-ADDB-F4E7FB0C656B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FCACB893-A062-37C9-5D52-A9DEC318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0ED4-388E-480A-B4AE-7B736FA9E09D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82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0" i="0">
                <a:solidFill>
                  <a:srgbClr val="488CF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40B83281-38E3-2EE3-E1BB-ECA3CF444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97279C7-A416-8BCB-777F-3F034EACBB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85B4B-9DAF-4B0C-8A89-9AED1FDCDEF6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D31E001C-D593-AC8D-58EA-2A7ACDCB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82098-F115-4147-B934-A707892357D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0" i="0">
                <a:solidFill>
                  <a:srgbClr val="488CF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CEF7BAF8-70A2-A0BE-BC81-5217525B8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6C650279-4873-63E3-CE00-A6CE7D66AE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F508-C9FB-422F-ADE4-4D0002A2EA8D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5BCCC205-9D00-99DC-EC1E-87318506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2ABB5-3979-4565-BA00-F5C9C66A835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02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0" i="0">
                <a:solidFill>
                  <a:srgbClr val="488CF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547F32C0-13F5-6AAD-9A05-417B627272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4EBC60F3-52B4-A764-7434-87169FC353E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8421C-103B-46D2-BD27-C005D60528C3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CD9D416B-85DE-1908-8D01-1E5D3A64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65649-F480-4C2C-9582-DB2B2B1C5CF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45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C3425CE8-5AAF-0E4F-D605-7AA8B1803F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5D58BF28-E37A-2308-6E87-FFB7E2CA3BE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FF27F-8F89-44A7-BD57-4540BC738ED3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8F9787F8-D429-5EB2-2B2C-9DC43563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4EDFA-DCD8-4BBE-B733-42A95FC3BF8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389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k object 16">
            <a:extLst>
              <a:ext uri="{FF2B5EF4-FFF2-40B4-BE49-F238E27FC236}">
                <a16:creationId xmlns:a16="http://schemas.microsoft.com/office/drawing/2014/main" id="{94EDB304-E40F-E39D-9F33-71ABFFE75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260350"/>
            <a:ext cx="3143250" cy="365125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7" name="Holder 2">
            <a:extLst>
              <a:ext uri="{FF2B5EF4-FFF2-40B4-BE49-F238E27FC236}">
                <a16:creationId xmlns:a16="http://schemas.microsoft.com/office/drawing/2014/main" id="{6C75DB98-22F5-BAA9-5A68-59113D4F6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7075" y="1041400"/>
            <a:ext cx="107378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28" name="Holder 3">
            <a:extLst>
              <a:ext uri="{FF2B5EF4-FFF2-40B4-BE49-F238E27FC236}">
                <a16:creationId xmlns:a16="http://schemas.microsoft.com/office/drawing/2014/main" id="{276B9112-C120-B42D-7167-5DDE6F2C3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2016125"/>
            <a:ext cx="10369550" cy="408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1FABEA31-8125-7B2D-E25C-0BC35365F8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4963" y="6378575"/>
            <a:ext cx="3902075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31623B07-143B-76C2-698D-B341D35BEF6D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09600" y="6378575"/>
            <a:ext cx="2803525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A03DF2A-DCEF-4479-A82D-4D455493F216}" type="datetimeFigureOut">
              <a:rPr lang="en-US"/>
              <a:pPr>
                <a:defRPr/>
              </a:pPr>
              <a:t>1/3/2026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B09D339-20AB-CED6-76C5-549AA0F394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875" y="6378575"/>
            <a:ext cx="2803525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0115374-861A-4DC0-A917-6F570316182A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FEC3D0-5FAF-5804-828B-5DC3BBE8434B}"/>
              </a:ext>
            </a:extLst>
          </p:cNvPr>
          <p:cNvSpPr txBox="1"/>
          <p:nvPr/>
        </p:nvSpPr>
        <p:spPr>
          <a:xfrm>
            <a:off x="889000" y="1358900"/>
            <a:ext cx="1952625" cy="4699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3700" spc="-35" dirty="0">
                <a:solidFill>
                  <a:srgbClr val="AB23AC"/>
                </a:solidFill>
                <a:latin typeface="Calibri"/>
                <a:cs typeface="Calibri"/>
              </a:rPr>
              <a:t>P</a:t>
            </a:r>
            <a:r>
              <a:rPr sz="3700" spc="-40" dirty="0">
                <a:solidFill>
                  <a:srgbClr val="AB23AC"/>
                </a:solidFill>
                <a:latin typeface="Calibri"/>
                <a:cs typeface="Calibri"/>
              </a:rPr>
              <a:t>ro</a:t>
            </a:r>
            <a:r>
              <a:rPr sz="3700" spc="-15" dirty="0">
                <a:solidFill>
                  <a:srgbClr val="AB23AC"/>
                </a:solidFill>
                <a:latin typeface="Calibri"/>
                <a:cs typeface="Calibri"/>
              </a:rPr>
              <a:t>j</a:t>
            </a:r>
            <a:r>
              <a:rPr sz="3700" spc="-45" dirty="0">
                <a:solidFill>
                  <a:srgbClr val="AB23AC"/>
                </a:solidFill>
                <a:latin typeface="Calibri"/>
                <a:cs typeface="Calibri"/>
              </a:rPr>
              <a:t>e</a:t>
            </a:r>
            <a:r>
              <a:rPr sz="3700" spc="-35" dirty="0">
                <a:solidFill>
                  <a:srgbClr val="AB23AC"/>
                </a:solidFill>
                <a:latin typeface="Calibri"/>
                <a:cs typeface="Calibri"/>
              </a:rPr>
              <a:t>c</a:t>
            </a:r>
            <a:r>
              <a:rPr sz="3700" spc="-15" dirty="0">
                <a:solidFill>
                  <a:srgbClr val="AB23AC"/>
                </a:solidFill>
                <a:latin typeface="Calibri"/>
                <a:cs typeface="Calibri"/>
              </a:rPr>
              <a:t>t</a:t>
            </a:r>
            <a:r>
              <a:rPr sz="3700" spc="-235" dirty="0">
                <a:solidFill>
                  <a:srgbClr val="AB23AC"/>
                </a:solidFill>
                <a:latin typeface="Times New Roman"/>
                <a:cs typeface="Times New Roman"/>
              </a:rPr>
              <a:t> </a:t>
            </a:r>
            <a:r>
              <a:rPr sz="3700" spc="-25" dirty="0">
                <a:solidFill>
                  <a:srgbClr val="AB23AC"/>
                </a:solidFill>
                <a:latin typeface="Calibri"/>
                <a:cs typeface="Calibri"/>
              </a:rPr>
              <a:t>on</a:t>
            </a:r>
            <a:endParaRPr sz="3700" dirty="0">
              <a:latin typeface="Calibri"/>
              <a:cs typeface="Calibri"/>
            </a:endParaRPr>
          </a:p>
        </p:txBody>
      </p:sp>
      <p:sp>
        <p:nvSpPr>
          <p:cNvPr id="2051" name="object 3">
            <a:extLst>
              <a:ext uri="{FF2B5EF4-FFF2-40B4-BE49-F238E27FC236}">
                <a16:creationId xmlns:a16="http://schemas.microsoft.com/office/drawing/2014/main" id="{52321230-E792-9AB6-580E-89B885220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044700"/>
            <a:ext cx="9141408" cy="1372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5263"/>
              </a:lnSpc>
            </a:pPr>
            <a:r>
              <a:rPr lang="en-US" altLang="en-US" sz="5400" dirty="0"/>
              <a:t>Employee Attrition Analysis </a:t>
            </a:r>
          </a:p>
          <a:p>
            <a:pPr eaLnBrk="1" hangingPunct="1">
              <a:lnSpc>
                <a:spcPts val="5263"/>
              </a:lnSpc>
            </a:pPr>
            <a:r>
              <a:rPr lang="en-US" altLang="en-US" sz="4800" dirty="0"/>
              <a:t>HR Analytics Project</a:t>
            </a:r>
            <a:endParaRPr lang="en-US" altLang="en-US" sz="4800" dirty="0">
              <a:cs typeface="Calibri" panose="020F0502020204030204" pitchFamily="34" charset="0"/>
            </a:endParaRPr>
          </a:p>
        </p:txBody>
      </p:sp>
      <p:sp>
        <p:nvSpPr>
          <p:cNvPr id="2052" name="object 5">
            <a:extLst>
              <a:ext uri="{FF2B5EF4-FFF2-40B4-BE49-F238E27FC236}">
                <a16:creationId xmlns:a16="http://schemas.microsoft.com/office/drawing/2014/main" id="{CB4D452A-33CC-0C73-7A8E-D8CE6E8AD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3592513"/>
            <a:ext cx="6440487" cy="809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3" name="object 6">
            <a:extLst>
              <a:ext uri="{FF2B5EF4-FFF2-40B4-BE49-F238E27FC236}">
                <a16:creationId xmlns:a16="http://schemas.microsoft.com/office/drawing/2014/main" id="{41FC6322-8318-6163-FD29-14BAAF66BEA5}"/>
              </a:ext>
            </a:extLst>
          </p:cNvPr>
          <p:cNvSpPr>
            <a:spLocks/>
          </p:cNvSpPr>
          <p:nvPr/>
        </p:nvSpPr>
        <p:spPr bwMode="auto">
          <a:xfrm>
            <a:off x="820738" y="3686175"/>
            <a:ext cx="10171112" cy="0"/>
          </a:xfrm>
          <a:custGeom>
            <a:avLst/>
            <a:gdLst>
              <a:gd name="T0" fmla="*/ 0 w 10170795"/>
              <a:gd name="T1" fmla="*/ 10173647 w 101707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170795">
                <a:moveTo>
                  <a:pt x="0" y="0"/>
                </a:moveTo>
                <a:lnTo>
                  <a:pt x="10170794" y="0"/>
                </a:lnTo>
              </a:path>
            </a:pathLst>
          </a:custGeom>
          <a:noFill/>
          <a:ln w="9576">
            <a:solidFill>
              <a:srgbClr val="BDBD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CC14891-F7E4-8C24-0D9F-FEAEB0CFEBB6}"/>
              </a:ext>
            </a:extLst>
          </p:cNvPr>
          <p:cNvGraphicFramePr>
            <a:graphicFrameLocks noGrp="1"/>
          </p:cNvGraphicFramePr>
          <p:nvPr/>
        </p:nvGraphicFramePr>
        <p:xfrm>
          <a:off x="798513" y="3979863"/>
          <a:ext cx="8128000" cy="2220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51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01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51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2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Swa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awa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51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41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lang="en-IN" sz="1800" dirty="0">
                          <a:latin typeface="Calibri"/>
                          <a:cs typeface="Calibri"/>
                        </a:rPr>
                        <a:t> Ubhadiya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libri"/>
                          <a:cs typeface="Calibri"/>
                        </a:rPr>
                        <a:t>  20251014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20251045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47638A-7E3B-F217-318A-DC10F82C4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82228"/>
            <a:ext cx="10737850" cy="677863"/>
          </a:xfrm>
        </p:spPr>
        <p:txBody>
          <a:bodyPr rtlCol="0">
            <a:normAutofit/>
          </a:bodyPr>
          <a:lstStyle/>
          <a:p>
            <a:pPr marL="127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>
                <a:solidFill>
                  <a:srgbClr val="00B0F0"/>
                </a:solidFill>
                <a:latin typeface="+mn-lt"/>
              </a:rPr>
              <a:t>P</a:t>
            </a:r>
            <a:r>
              <a:rPr spc="-25" dirty="0">
                <a:solidFill>
                  <a:srgbClr val="00B0F0"/>
                </a:solidFill>
                <a:latin typeface="+mn-lt"/>
              </a:rPr>
              <a:t>r</a:t>
            </a:r>
            <a:r>
              <a:rPr spc="-5" dirty="0">
                <a:solidFill>
                  <a:srgbClr val="00B0F0"/>
                </a:solidFill>
                <a:latin typeface="+mn-lt"/>
              </a:rPr>
              <a:t>o</a:t>
            </a:r>
            <a:r>
              <a:rPr spc="-15" dirty="0">
                <a:solidFill>
                  <a:srgbClr val="00B0F0"/>
                </a:solidFill>
                <a:latin typeface="+mn-lt"/>
              </a:rPr>
              <a:t>j</a:t>
            </a:r>
            <a:r>
              <a:rPr dirty="0">
                <a:solidFill>
                  <a:srgbClr val="00B0F0"/>
                </a:solidFill>
                <a:latin typeface="+mn-lt"/>
              </a:rPr>
              <a:t>e</a:t>
            </a:r>
            <a:r>
              <a:rPr spc="-35" dirty="0">
                <a:solidFill>
                  <a:srgbClr val="00B0F0"/>
                </a:solidFill>
                <a:latin typeface="+mn-lt"/>
              </a:rPr>
              <a:t>c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114" dirty="0">
                <a:solidFill>
                  <a:srgbClr val="00B0F0"/>
                </a:solidFill>
                <a:latin typeface="+mn-lt"/>
                <a:cs typeface="Times New Roman"/>
              </a:rPr>
              <a:t> </a:t>
            </a:r>
            <a:r>
              <a:rPr spc="-5" dirty="0">
                <a:solidFill>
                  <a:srgbClr val="00B0F0"/>
                </a:solidFill>
                <a:latin typeface="+mn-lt"/>
              </a:rPr>
              <a:t>O</a:t>
            </a:r>
            <a:r>
              <a:rPr spc="-20" dirty="0">
                <a:solidFill>
                  <a:srgbClr val="00B0F0"/>
                </a:solidFill>
                <a:latin typeface="+mn-lt"/>
              </a:rPr>
              <a:t>b</a:t>
            </a:r>
            <a:r>
              <a:rPr spc="-5" dirty="0">
                <a:solidFill>
                  <a:srgbClr val="00B0F0"/>
                </a:solidFill>
                <a:latin typeface="+mn-lt"/>
              </a:rPr>
              <a:t>j</a:t>
            </a:r>
            <a:r>
              <a:rPr spc="-30" dirty="0">
                <a:solidFill>
                  <a:srgbClr val="00B0F0"/>
                </a:solidFill>
                <a:latin typeface="+mn-lt"/>
              </a:rPr>
              <a:t>e</a:t>
            </a:r>
            <a:r>
              <a:rPr spc="-15" dirty="0">
                <a:solidFill>
                  <a:srgbClr val="00B0F0"/>
                </a:solidFill>
                <a:latin typeface="+mn-lt"/>
              </a:rPr>
              <a:t>c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25" dirty="0">
                <a:solidFill>
                  <a:srgbClr val="00B0F0"/>
                </a:solidFill>
                <a:latin typeface="+mn-lt"/>
              </a:rPr>
              <a:t>i</a:t>
            </a:r>
            <a:r>
              <a:rPr dirty="0">
                <a:solidFill>
                  <a:srgbClr val="00B0F0"/>
                </a:solidFill>
                <a:latin typeface="+mn-lt"/>
              </a:rPr>
              <a:t>ve</a:t>
            </a:r>
          </a:p>
        </p:txBody>
      </p:sp>
      <p:sp>
        <p:nvSpPr>
          <p:cNvPr id="4099" name="object 3">
            <a:extLst>
              <a:ext uri="{FF2B5EF4-FFF2-40B4-BE49-F238E27FC236}">
                <a16:creationId xmlns:a16="http://schemas.microsoft.com/office/drawing/2014/main" id="{BC4444C3-B4FD-786A-FEF9-4C3AC3783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86" y="2100489"/>
            <a:ext cx="11000014" cy="491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241300" indent="-228600"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700" indent="0"/>
            <a:r>
              <a:rPr lang="en-US" sz="2000" b="1" dirty="0"/>
              <a:t>1. Understand Employee Attrition Patterns</a:t>
            </a:r>
            <a:endParaRPr lang="en-US" sz="2000" dirty="0"/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 why employees are leaving the organization</a:t>
            </a:r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Identify common reasons across departments</a:t>
            </a:r>
          </a:p>
          <a:p>
            <a:pPr marL="514350" lvl="1" indent="0"/>
            <a:endParaRPr lang="en-US" sz="2000" dirty="0"/>
          </a:p>
          <a:p>
            <a:pPr marL="12700" indent="0"/>
            <a:r>
              <a:rPr lang="en-US" sz="2000" b="1" dirty="0"/>
              <a:t>2. Department-wise Attrition Analysis</a:t>
            </a:r>
            <a:endParaRPr lang="en-US" sz="2000" dirty="0"/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Determine which departments face higher employee exits</a:t>
            </a:r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 average tenure across departments</a:t>
            </a:r>
          </a:p>
          <a:p>
            <a:pPr marL="514350" lvl="1" indent="0"/>
            <a:endParaRPr lang="en-US" sz="2000" dirty="0"/>
          </a:p>
          <a:p>
            <a:pPr marL="12700" indent="0"/>
            <a:r>
              <a:rPr lang="en-US" sz="2000" b="1" dirty="0"/>
              <a:t>3. Demographic Impact on Attrition</a:t>
            </a:r>
            <a:endParaRPr lang="en-US" sz="2000" dirty="0"/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Study attrition trends based on gender</a:t>
            </a:r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 experience level at the time of exit</a:t>
            </a:r>
          </a:p>
          <a:p>
            <a:pPr marL="514350" lvl="1" indent="0"/>
            <a:endParaRPr lang="en-US" sz="2000" dirty="0"/>
          </a:p>
          <a:p>
            <a:pPr marL="12700" indent="0"/>
            <a:r>
              <a:rPr lang="en-US" sz="2000" b="1" dirty="0"/>
              <a:t>4. Data-Driven HR Decision Support</a:t>
            </a:r>
            <a:endParaRPr lang="en-US" sz="2000" dirty="0"/>
          </a:p>
          <a:p>
            <a:pPr marL="8572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raw HR data into actionable insights and enable management to take preventive retention measures</a:t>
            </a:r>
          </a:p>
          <a:p>
            <a:pPr marL="12700" indent="0" eaLnBrk="1" hangingPunct="1">
              <a:lnSpc>
                <a:spcPct val="102000"/>
              </a:lnSpc>
              <a:buSzPct val="45000"/>
              <a:defRPr/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sp>
        <p:nvSpPr>
          <p:cNvPr id="4100" name="object 4">
            <a:extLst>
              <a:ext uri="{FF2B5EF4-FFF2-40B4-BE49-F238E27FC236}">
                <a16:creationId xmlns:a16="http://schemas.microsoft.com/office/drawing/2014/main" id="{46BAD13D-3EA4-5E9C-F93B-25477CAA8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86" y="1739868"/>
            <a:ext cx="10296525" cy="1524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601791-84F0-1408-5F7B-D6E227A69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solidFill>
                  <a:srgbClr val="00B0F0"/>
                </a:solidFill>
                <a:latin typeface="+mn-lt"/>
              </a:rPr>
              <a:t>D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spc="-20" dirty="0">
                <a:solidFill>
                  <a:srgbClr val="00B0F0"/>
                </a:solidFill>
                <a:latin typeface="+mn-lt"/>
              </a:rPr>
              <a:t>se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175" dirty="0">
                <a:solidFill>
                  <a:srgbClr val="00B0F0"/>
                </a:solidFill>
                <a:latin typeface="+mn-lt"/>
                <a:cs typeface="Times New Roman"/>
              </a:rPr>
              <a:t> </a:t>
            </a:r>
            <a:r>
              <a:rPr lang="en-IN" spc="-5" dirty="0">
                <a:solidFill>
                  <a:srgbClr val="00B0F0"/>
                </a:solidFill>
                <a:latin typeface="+mn-lt"/>
                <a:cs typeface="Times New Roman"/>
              </a:rPr>
              <a:t>Overview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9BD900BB-A53F-92A1-145C-DC5BC7F7D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A3225-A897-F867-931C-D64286B8F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86181"/>
            <a:ext cx="7649643" cy="4010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F86E-C50B-41A2-ED1F-419BD323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F23951-492F-D7A5-CBF3-FADF97476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solidFill>
                  <a:srgbClr val="00B0F0"/>
                </a:solidFill>
                <a:latin typeface="+mn-lt"/>
              </a:rPr>
              <a:t>D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spc="-175" dirty="0">
                <a:solidFill>
                  <a:srgbClr val="00B0F0"/>
                </a:solidFill>
                <a:latin typeface="+mn-lt"/>
                <a:cs typeface="Times New Roman"/>
              </a:rPr>
              <a:t> </a:t>
            </a:r>
            <a:r>
              <a:rPr lang="en-IN" spc="-5" dirty="0">
                <a:solidFill>
                  <a:srgbClr val="00B0F0"/>
                </a:solidFill>
                <a:latin typeface="+mn-lt"/>
                <a:cs typeface="Times New Roman"/>
              </a:rPr>
              <a:t>Validation and Integrity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322B6B9C-46D7-4B11-00BD-C7865B1A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026E9C-0854-073E-9665-9F61149C8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2094950"/>
            <a:ext cx="8999272" cy="3432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F6800-E2F3-E044-D9BC-1706E4E01D28}"/>
              </a:ext>
            </a:extLst>
          </p:cNvPr>
          <p:cNvSpPr txBox="1"/>
          <p:nvPr/>
        </p:nvSpPr>
        <p:spPr>
          <a:xfrm>
            <a:off x="727075" y="5693488"/>
            <a:ext cx="73439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Verified absence of duplicate and missing/null employee records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264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ECB9-EBAF-D9C7-9AF7-5D4DB6DB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607700-9626-95EA-EE78-C8C798B3E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solidFill>
                  <a:srgbClr val="00B0F0"/>
                </a:solidFill>
                <a:latin typeface="+mn-lt"/>
              </a:rPr>
              <a:t>D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spc="-175" dirty="0">
                <a:solidFill>
                  <a:srgbClr val="00B0F0"/>
                </a:solidFill>
                <a:latin typeface="+mn-lt"/>
                <a:cs typeface="Times New Roman"/>
              </a:rPr>
              <a:t> </a:t>
            </a:r>
            <a:r>
              <a:rPr lang="en-IN" spc="-5" dirty="0">
                <a:solidFill>
                  <a:srgbClr val="00B0F0"/>
                </a:solidFill>
                <a:latin typeface="+mn-lt"/>
                <a:cs typeface="Times New Roman"/>
              </a:rPr>
              <a:t>Analysis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C3DC6B43-F1F6-E7EF-7258-0C64785E1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B8C7F-C149-E337-6B7C-4BA38A41EB67}"/>
              </a:ext>
            </a:extLst>
          </p:cNvPr>
          <p:cNvSpPr txBox="1"/>
          <p:nvPr/>
        </p:nvSpPr>
        <p:spPr>
          <a:xfrm>
            <a:off x="727075" y="5693488"/>
            <a:ext cx="9984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Legal and Product Management departments show the highest number of employee exits</a:t>
            </a:r>
            <a:endParaRPr lang="en-IN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1E3E4-42EA-F63F-71CC-6D5DEEA99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52735"/>
            <a:ext cx="8063090" cy="33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3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5FD4D-4F70-DCC6-5B0E-1AB50372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A9CBE8-24CA-A76C-38C0-E62DA7D62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solidFill>
                  <a:srgbClr val="00B0F0"/>
                </a:solidFill>
                <a:latin typeface="+mn-lt"/>
              </a:rPr>
              <a:t>D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dirty="0">
                <a:solidFill>
                  <a:srgbClr val="00B0F0"/>
                </a:solidFill>
                <a:latin typeface="+mn-lt"/>
              </a:rPr>
              <a:t>t</a:t>
            </a:r>
            <a:r>
              <a:rPr spc="-35" dirty="0">
                <a:solidFill>
                  <a:srgbClr val="00B0F0"/>
                </a:solidFill>
                <a:latin typeface="+mn-lt"/>
              </a:rPr>
              <a:t>a</a:t>
            </a:r>
            <a:r>
              <a:rPr spc="-175" dirty="0">
                <a:solidFill>
                  <a:srgbClr val="00B0F0"/>
                </a:solidFill>
                <a:latin typeface="+mn-lt"/>
                <a:cs typeface="Times New Roman"/>
              </a:rPr>
              <a:t> </a:t>
            </a:r>
            <a:r>
              <a:rPr lang="en-IN" spc="-5" dirty="0">
                <a:solidFill>
                  <a:srgbClr val="00B0F0"/>
                </a:solidFill>
                <a:latin typeface="+mn-lt"/>
                <a:cs typeface="Times New Roman"/>
              </a:rPr>
              <a:t>Analysis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33AB6272-47B6-00FF-21E6-959C7C521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9A4EC-EEBD-2199-941C-29C4A328421E}"/>
              </a:ext>
            </a:extLst>
          </p:cNvPr>
          <p:cNvSpPr txBox="1"/>
          <p:nvPr/>
        </p:nvSpPr>
        <p:spPr>
          <a:xfrm>
            <a:off x="838199" y="4833908"/>
            <a:ext cx="111796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Better Position</a:t>
            </a:r>
            <a:r>
              <a:rPr lang="en-US" sz="2000" dirty="0"/>
              <a:t>, </a:t>
            </a:r>
            <a:r>
              <a:rPr lang="en-US" sz="2000" b="1" dirty="0"/>
              <a:t>Preferred Job Location</a:t>
            </a:r>
            <a:r>
              <a:rPr lang="en-US" sz="2000" dirty="0"/>
              <a:t>, and </a:t>
            </a:r>
            <a:r>
              <a:rPr lang="en-US" sz="2000" b="1" dirty="0"/>
              <a:t>Higher Studies </a:t>
            </a:r>
            <a:r>
              <a:rPr lang="en-US" sz="2000" dirty="0"/>
              <a:t>being the top three reasons employees leave the organization.</a:t>
            </a:r>
            <a:endParaRPr lang="en-IN" sz="2000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149D36B-6551-95A5-11BD-9602BEDE0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05582"/>
            <a:ext cx="7996319" cy="23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8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107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BC80-1774-510E-B765-2AA4DCD1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11B798-5DA4-3E27-37AC-9A3D224E69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pc="-5" dirty="0">
                <a:solidFill>
                  <a:srgbClr val="00B0F0"/>
                </a:solidFill>
                <a:latin typeface="+mn-lt"/>
              </a:rPr>
              <a:t>K</a:t>
            </a:r>
            <a:r>
              <a:rPr lang="en-IN" spc="-35" dirty="0">
                <a:solidFill>
                  <a:srgbClr val="00B0F0"/>
                </a:solidFill>
                <a:latin typeface="+mn-lt"/>
              </a:rPr>
              <a:t>ey Findings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70C69945-E1F4-38FB-B82E-10C61689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4D669D-20C9-C5A6-368E-8B8E44533BE6}"/>
              </a:ext>
            </a:extLst>
          </p:cNvPr>
          <p:cNvSpPr txBox="1"/>
          <p:nvPr/>
        </p:nvSpPr>
        <p:spPr>
          <a:xfrm>
            <a:off x="838199" y="2103966"/>
            <a:ext cx="1111431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Sales and Support departments show higher employee attrition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Better salary and career growth are the most common reasons for leaving, indicating employees seek improved compensation and clearer advancement opportunities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Employees with 0–3 years of experience show higher exit rates, suggesting early-stage employees are more likely to switch roles or explore better opportunities.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Average tenure varies significantly across departments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Gender-based attrition shows balanced exits, indicating that attrition is more role-driven rather than influenced by gender.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11585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5A71-C638-96BF-1001-5366E81D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99144A-F8D3-735D-808B-5E60D8F7C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075" y="1041400"/>
            <a:ext cx="10737850" cy="677863"/>
          </a:xfrm>
        </p:spPr>
        <p:txBody>
          <a:bodyPr rtlCol="0">
            <a:normAutofit/>
          </a:bodyPr>
          <a:lstStyle/>
          <a:p>
            <a:pPr marL="20320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pc="-35" dirty="0">
                <a:solidFill>
                  <a:srgbClr val="00B0F0"/>
                </a:solidFill>
                <a:latin typeface="+mn-lt"/>
              </a:rPr>
              <a:t>Conclusion</a:t>
            </a:r>
            <a:endParaRPr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2291" name="object 3">
            <a:extLst>
              <a:ext uri="{FF2B5EF4-FFF2-40B4-BE49-F238E27FC236}">
                <a16:creationId xmlns:a16="http://schemas.microsoft.com/office/drawing/2014/main" id="{BA5449BD-D7D3-0A1F-51A5-C6666775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66875"/>
            <a:ext cx="10464800" cy="1571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6" name="Picture 5" descr="A computer screen with text overlay&#10;&#10;AI-generated content may be incorrect.">
            <a:extLst>
              <a:ext uri="{FF2B5EF4-FFF2-40B4-BE49-F238E27FC236}">
                <a16:creationId xmlns:a16="http://schemas.microsoft.com/office/drawing/2014/main" id="{57F100E5-2084-DF33-7E5A-DB82A06DD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94013"/>
            <a:ext cx="9640078" cy="463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23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60df9b8-4006-4317-b60c-c59de833e2d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0877578-9363-469b-9212-3e3a9d55d338/e51abccf53011804ddc6?bookmarkGuid=b13d4b58-5291-4b93-92ba-a2791f5daea5&amp;bookmarkUsage=1&amp;ctid=452a0083-a6e2-46aa-8082-480002eeb4b5&amp;fromEntryPoint=export&quot;"/>
    <we:property name="reportState" value="&quot;CONNECTED&quot;"/>
    <we:property name="artifactViewState" value="&quot;live&quot;"/>
    <we:property name="reportEmbeddedTime" value="&quot;2026-01-02T19:44:59.393Z&quot;"/>
    <we:property name="creatorSessionId" value="&quot;69d19459-49f4-4f06-8bf5-ce8af10b2ba6&quot;"/>
    <we:property name="creatorUserId" value="&quot;10032005095AF127&quot;"/>
    <we:property name="creatorTenantId" value="&quot;452a0083-a6e2-46aa-8082-480002eeb4b5&quot;"/>
    <we:property name="pageDisplayName" value="&quot;Page 1&quot;"/>
    <we:property name="pageName" value="&quot;e51abccf53011804ddc6&quot;"/>
    <we:property name="reportName" value="&quot;HR-Analytics (1)&quot;"/>
    <we:property name="isVisualContainerHeaderHidden" value="false"/>
    <we:property name="isFiltersActionButtonVisible" value="true"/>
    <we:property name="initialStateBookmark" value="&quot;H4sIAAAAAAAAA+VY32/TMBD+Vyq/8FKhpPnV7q0rhYcxmNYJCaEKne1La0jtyHFKy5T/nXNSBoOyTvwqaA+V6vPl7r7vvpwjXzOpqrKA7QtYITthp8a8X4F93wtZn+md7eXLs/Px5dnbF+PzKZlN6ZTRFTu5Zg7sAt0rVdVQ+AhkfDPvMyiKC1j4VQ5FhX1Woq2MhkJ9xM6Ztpytsekz3JSFseBDzhw49GHX5E5ryh0+jigjCKfWOEPhOismIXAh8iQKwnAYxFKKlNyqzqGtbK+LD92mnxjtQGlK422jIXAA+qWjhIsRl0Ekvb1SelHsCv7y7NW29Kw43DhuNp4P/o4S+0hNQ4AoaSyyMMkGksdJSsGGI/90rgq3S8i3001piStisIs2lmvQAiVrCbFYdfiv2TlCVduWlemtjZmprcBLzNst7ZTbUpzZEtGFzNdxYQ3R3lqvjIOiN10R01uktvjtpfkwsUiEE9SgmZPlTrgCrLyNlRZWoj3dtjieKPu5PYP+N6X+IQxUNLkkmKdxnsW5ACI8GKY8io9M95j0S/LvXaH2sf5Htr+D0JE9gmyQp2mcJKMQ/XvF08FBsicEe2GsEgT0W74npqhX+tdqfYIlWLdC7X6G6qpQAu0tstkKaaz5PxIctFDKLp3Cbt/IdhtbpNfsuSL0XexXUNQ+7KNTqJR45JnbcdcNMar73VdjqnWv2hS/nYp5O46CAJI0CjMhYx5EIg4x4Udv2SVp1OhebmyvQFhTfx586/ZS0rWQBwAxDEUW5FEgadjxND3yiLuZw73nmO977/r/yesv2gomSwpx1IH7HaHN/Ae62/G5/ZNDQ4TDZBBnkOYSxSjjSTjKjj407mx0/7Dwx4uFxQW43XL62wt8jWCrntI9Yxeg1cculXd6WuudesKf0GhBX6q/pNB/BflRNQ0QIQyRTsGYVJ0NIxTy6Jq+10F4D23/naF+UKnS6No96GF6xzE+iGM6vpMEshBiTAc8TPHoAnyGmhrz4L++bmjwsHdXIl8KZkslJequpmY/YlO7qgSBF6BxD3JCDJRCHkDf3pewNgmRrXhxiC5/i3LDVdN8As8fHCrQEQAA&quot;"/>
    <we:property name="bookmark" value="&quot;H4sIAAAAAAAAA+VY30/bMBD+V6q88FJNceL8KG9Q2F7YhAAhTVMfLvalGFI7chxGQf3fd046GNAB4sc6xEOl+s65u++7z+coV4FUTV3B/BvMMNgMto05m4E9G7BgGOjelqV5wiMWhSzCKOeSI0/Ja2qnjG6CzavAgZ2iO1ZNC5UPRMYfk2EAVbUPU78qoWpwGNRoG6OhUpfYbyaXsy0uhgFe1JWx4EMeOnDow57TdlpTCexTTBlBOHWOhyhcb8WEQSFEmcQhY3nIpRS+sKbf0FW2cosP3aUfG+1AaUrjbaMcCgD6paOkEKNChrH09kbpabUs+ObZo3ntyXF44Qpz4fkoTimxj7RYECBKykXGkiySBU9SCpaP/NOlqtwyYTHfvagtcUUM9tG25DlogTLoCLHY9Pivgq8ITWs7VnZvOQ5NawUeYNm5tFNuTnEOTxAdC3wd+9YQ7Z31yDioBrszYnqO1BbvPjE/xxaJcIIaLiZkeRCuACtvY6WFlWi35x2OHWV/tyca3in1jTBQ0bQlwTLlZcZLAUR4mKdFzNdM9xbpl+Q/OELtY71Htu9B6MkeQRaVacqTZMTQn6sijR4le0ywp8YqQUDv8j02VTvTL6t1B2uwbobaPYfqplIC7S2ygxnSWPN/JDjooNR9OoW938jOjR3Sq2BPEfo+9jFUrQ+7sQ2NEhueuSV3/RCjuk//GFPd9qZL8epUTLpxFIaQpDHLhORFGAvOMCnW3rID0qjRg9LYQYVwTv358K1bSUnfwiIE4JCLLCzjUNKwK9J0zSPueg4P9rBcde6G7+T4i66C8QmFWOvAvUfoYvIX3S35nL/l0BAsTyKeQVpKFKOsSNgoW/vQeLDRw8eFvzWdWpyCWy53X73A7wi2GSg9MHYKWl32qfymz61eqoc9Q6MVvam+SKH/C/K1ahogRsiRbkFOqs7yGIVcu6afdBE+Qdv/Zqg/qlRpdOs+9DB94BqPOKfrO0kgY8AxjQqW4toF+AU1NebDv31d0+BhL7+M3BQcnCgpUfc1LVYjNq1rahC4DxpXICfEQCnkI+i77yXX2BeLX7BtFqinEQAA&quot;"/>
    <we:property name="datasetId" value="&quot;8f5dee5e-ae62-41b1-af60-39e76184e533&quot;"/>
    <we:property name="embedUrl" value="&quot;/reportEmbed?reportId=70877578-9363-469b-9212-3e3a9d55d338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3A3A3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b4cb15-d52b-4211-86d0-b55a098860b4}">
  <we:reference id="WA200003233" version="2.0.0.3" store="en-US" storeType="OMEX"/>
  <we:alternateReferences/>
  <we:properties>
    <we:property name="Microsoft.Office.CampaignId" value="&quot;none&quot;"/>
    <we:property name="reportUrl" value="&quot;/groups/me/reports/70877578-9363-469b-9212-3e3a9d55d338/4cecee4974b4ecfb6b4f?bookmarkGuid=5315fe55-79f3-4a34-b4c2-2745628719a6&amp;bookmarkUsage=1&amp;ctid=452a0083-a6e2-46aa-8082-480002eeb4b5&amp;fromEntryPoint=export&quot;"/>
    <we:property name="reportState" value="&quot;CONNECTED&quot;"/>
    <we:property name="artifactViewState" value="&quot;live&quot;"/>
    <we:property name="reportEmbeddedTime" value="&quot;2026-01-02T19:45:48.656Z&quot;"/>
    <we:property name="creatorSessionId" value="&quot;e0e12927-8fa5-4895-8b17-734dacc82ae9&quot;"/>
    <we:property name="creatorUserId" value="&quot;10032005095AF127&quot;"/>
    <we:property name="creatorTenantId" value="&quot;452a0083-a6e2-46aa-8082-480002eeb4b5&quot;"/>
    <we:property name="pageDisplayName" value="&quot;Page 2&quot;"/>
    <we:property name="pageName" value="&quot;4cecee4974b4ecfb6b4f&quot;"/>
    <we:property name="reportName" value="&quot;HR-Analytics (1)&quot;"/>
    <we:property name="isVisualContainerHeaderHidden" value="false"/>
    <we:property name="isFiltersActionButtonVisible" value="true"/>
    <we:property name="initialStateBookmark" value="&quot;H4sIAAAAAAAAA+1YbW8TORD+K9F+gZOi07543/oBKQ3hPkChahASQhWatcepwVmvvN5ec1X++816U6A0NFKBphyXT1l7PJ7neWbH470MhGobDauXsMTgIDg05uMS7MdRFIyDejP26tXzo8nJ8/cvJ0czGjaNU6Zug4PLwIFdoHuj2g5074EG352OA9D6GBb9kwTd4jho0LamBq3+wcGYppztcD0O8KLRxkLvcu7AYe/2nMzpmfaO/kxoR+BOneMcuRtGGUeOyMqcVQy5rLKKSTJrBwMf2VaT3rXffmpqB6qmbfqxKCtKFkc5pqxMY16UWZb241JptzGpVrOLxhI6wrxqelYm4hxqjiLwECy2Q8SXwRFC21mPY3ZtYm46y/EEfRyz2im3Ij/zM0QXBWui4tgaIsqPzpbEygqxHb1AOFf1YiSNHc1Bg12NHj+JwtFbBNv+4dedmb+nFok7ERyE61MaaWmF3lD9GfXrIXIOVmymSMzqA7HWY6Rlxgq0hysP86myV3zH46+Q3DdEwkRrRVJAWUUYpTyME1ZEQhZ7lukINI4mzlnlmfp1xbgBZKCcV3nIhIglZowVEngVw54pf4bL/wrpW6AMtEdRVGZMFjmPq6QQOQIkO2mfEvyFsYp7VNeZnxrdLevvi/YvrImbLXSP70n518aBHn0qG3cRXpi6c9MzsG6vwt9Esj69OuXI7MMX59hG1SGwHyojZRrNsDCXaSmzPBRhBjHVVYj2nmpPsSGJlli7u6XbZLGwuAC3eZz9zHfhWVdvciW9SyXywXxXRu4N7P3l7LV8GPI2ZXEWUlmUpZQyhzDC9AGXyJ150GrFaeWXKRAskZrr/o8ABx5GM2ylcJg3wk+jR3kZvFCEfPD9BnTXu310CK3ij/oCszlatgrmzdufVWLKDKCUaRKJGIu4pK48lXuX6oTquKl9y6mH9vOBlhp/MfsBhUZ3LbGN4hDswy432wHfX7HZmhlDJgNSOxbTXTLBqohkmFCj1nu8lXmHF64yF9f57r0lGCchgiyrJClZWRVhXO79vbj16P29ythXp8746lPJ56CDMyUE+r6dyhyvIA0LELkohUhFJuXuu9KDKHO/l6zfeL93ycsqUaasShF4ErEwzDnG/8v7y8jrf9sRms61DXA8hhq3ICWEQP2M2IHWf+kcUoXIVZXeRU///fMTN+v1vz9MaOSKFQAA&quot;"/>
    <we:property name="bookmark" value="&quot;H4sIAAAAAAAAA+1YbW8TORD+K9F+gZOi07543/oBKQ3hPkChahASQhWatcepwVmvvN5ec1X++816U6A0NFKBphyXT1l7PJ7neWbH470MhGobDauXsMTgIDg05uMS7MdRFIyDejP26tXzo8nJ8/cvJ0czGjaNU6Zug4PLwIFdoHuj2g5074EG352OA9D6GBb9kwTd4jho0LamBq3+wcGYppztcD0O8KLRxkLvcu7AYe/2nMzpmfaO/kxoR+BOneMcuRtGGUeOyMqcVQy5rLKKSTJrBwMf2VaT3rXffmpqB6qmbfqxKCtKFkc5pqxMY16UWZb241JptzGpVrOLxhI6wrxqelYm4hxqjiLwECy2Q8SXwRFC21mPY3ZtYm46y/EEfRyz2im3Ij/zM0QXBWui4tgaIsqPzpbEygqxHb1AOFf1YiSNHc1Bg12NHj+JwtFbBNv+4dedmb+nFok7ERyE61MaaWmF3lD9GfXrIXIOVmymSMzqA7HWY6Rlxgq0hysP86myV3zH46+Q3DdEwkRrRVJAWUUYpTyME1ZEQhZ7lukINI4mzlnlmfp1xbgBZKCcV3nIhIglZowVEngVw54pf4bL/wrpW6AMtEdRVGZMFjmPq6QQOQIkO2mfEvyFsYp7VNeZnxrdLevvi/YvrImbLXSP70n518aBHn0qG3cRXpi6c9MzsG6vwt9Esj69OuXI7MMX59hG1SGwHyojZRrNsDCXaSmzPBRhBjHVVYj2nmpPsSGJlli7u6XbZLGwuAC3eZz9zHfhWVdvciW9SyXywXxXRu4N7P3l7LV8GPI2ZXEWUlmUpZQyhzDC9AGXyJ150GrFaeWXKRAskZrr/o8ABx5GM2ylcJg3wk+jR3kZvFCEfPD9BnTXu310CK3ij/oCszlatgrmzdufVWLKDKCUaRKJGIu4pK48lXuX6oTquKl9y6mH9vOBlhp/MfsBhUZ3LbGN4hDswy432wHfX7HZmhlDJgNSOxbTXTLBqohkmFCj1nu8lXmHF64yF9f57r0lGCchgiyrJClZWRVhXO79vbj16P29ythXp8746lPJ56CDMyUE+r6dyhyvIA0LELkohUhFJuXuu9KDKHO/l6zfeL93ycsqUaasShF4ErEwzDnG/8v7y8jrf9sRms61DXA8hhq3ICWEQP2M2IHWf+kcUoXIVZXeRU///fMTN+v1vz9MaOSKFQAA&quot;"/>
    <we:property name="datasetId" value="&quot;8f5dee5e-ae62-41b1-af60-39e76184e533&quot;"/>
    <we:property name="embedUrl" value="&quot;/reportEmbed?reportId=70877578-9363-469b-9212-3e3a9d55d338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3A3A3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251</Words>
  <Application>Microsoft Office PowerPoint</Application>
  <PresentationFormat>Widescreen</PresentationFormat>
  <Paragraphs>53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Adani Regular</vt:lpstr>
      <vt:lpstr>Arial</vt:lpstr>
      <vt:lpstr>Calibri</vt:lpstr>
      <vt:lpstr>Segoe UI Light</vt:lpstr>
      <vt:lpstr>Times New Roman</vt:lpstr>
      <vt:lpstr>Office Theme</vt:lpstr>
      <vt:lpstr>PowerPoint Presentation</vt:lpstr>
      <vt:lpstr>Project Objective</vt:lpstr>
      <vt:lpstr>Dataset Overview</vt:lpstr>
      <vt:lpstr>Data Validation and Integrity</vt:lpstr>
      <vt:lpstr>Data Analysis</vt:lpstr>
      <vt:lpstr>Data Analysis</vt:lpstr>
      <vt:lpstr>Microsoft Power BI</vt:lpstr>
      <vt:lpstr>Microsoft Power BI</vt:lpstr>
      <vt:lpstr>Key Findings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ApurvasinghChauhan</cp:lastModifiedBy>
  <cp:revision>61</cp:revision>
  <dcterms:created xsi:type="dcterms:W3CDTF">2025-10-10T19:44:40Z</dcterms:created>
  <dcterms:modified xsi:type="dcterms:W3CDTF">2026-01-02T20:36:33Z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2025-10-10T00:00:00Z</vt:filetime>
  </property>
  <property fmtid="{D5CDD505-2E9C-101B-9397-08002B2CF9AE}" pid="3" name="LastSaved">
    <vt:filetime>2025-10-10T00:00:00Z</vt:filetime>
  </property>
</Properties>
</file>